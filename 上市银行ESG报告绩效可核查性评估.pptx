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汇报的主题是“上市银行ESG报告‘绩效可核查性’评估”。在ESG投资日益重要的今天，数据的可信度成为了核心痛点。我们的研究旨在通过对A股上市银行2021至2025年的ESG报告进行系统性分析，评估其关键绩效指标的可核查性，为投资者和监管机构提供一个量化评估ESG信息质量的框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围绕十个核心部分展开。首先，我们会明确研究的主题和要解决的金融问题。接着，详细介绍数据来源、项目难度、数据模型设计以及技术实现细节。之后，我们会展示项目的工作流、具体案例、评估结果，并分享我们的优化过程和对AI辅助编码的反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主题非常明确：评估A股上市银行ESG报告中关键绩效指标的“可核查性”。这背后是为了解决ESG投资领域的三大核心问题：透明度评估、趋势分析和差异分析。在当前监管政策日益严格的背景下，这项研究对于投资者和监管机构都具有重要的现实意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数据全部来源于官方指定的巨潮资讯网。通过Python的AKShare库，我们程序化地获取了42家A股上市银行从2021到2025年的所有相关ESG报告。最终，我们成功获取了216份PDF报告，实现了100%的银行覆盖率，为后续分析奠定了坚实的数据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本项目申请1.1档的挑战难度。主要基于三点理由：首先，我们处理了超过210份PDF报告，数据规模巨大；其次，分析单元复杂，涉及超过3780个独立的分析点；最后，我们构建了一条完整的工程链路，技术栈全面，覆盖了从数据获取到最终洞察的所有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模型设计上，我们创新地提出了一个三层字段体系。第一层是基于规则的布尔字段，确保了100%的准确性。第二层是基于规则字段计算出的派生字段，如核心的可核查性评分。第三层原计划使用LLM，但由于技术问题，我们果断采用了规则保底方案，这大大提升了处理速度，并确保了项目的按时交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实现上，我们采用了pdfminer和PaddleOCR双引擎方案来解析PDF。为了精准定位目标章节，我们设计了四级优先级的章节路由策略。通过置信度评分算法，我们评估了定位效果，结果显示自动化定位的高置信度占比达到74.5%，效果良好，同时也识别出了需要人工确认的部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我们的项目采用了清晰的分层工作流。A同学负责数据供给，B同学负责解析和章节定位，C同学负责信息抽取和评分。通过明确的分工和协作接口，我们高效地完成了从原始PDF到最终结构化数据的全流程处理。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我们展示两个案例。平安银行2025年的报告是一个成功案例，我们的系统成功提取了多项关键信息，并给出了4分的良好评分。而华夏银行2021年的报告则是一个失败案例，由于是扫描版PDF，导致解析失败，评分为0。这揭示了我们方法的有效性和局限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评估结果部分。首先看这张热力图，它展示了不同银行在不同ESG议题上的可核查性评分。我们可以清晰地看到，公司治理和风险管理议题的评分普遍较高。而绿色信贷议题的披露质量差异巨大，国有大行明显优于城商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趋势图展示了2021到2025年的评分变化。我们可以看到，全行业的平均分稳步提升，这说明整体披露质量在持续改善。股份制银行一直处于领先地位，而城商行的追赶势头非常明显。特别值得注意的是2023年的峰值，这很可能与当时相关监管政策的出台有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箱线图，我们对比了不同类型银行的评分分布。国有大行和股份制银行表现出较高的一致性和高质量。而城商行则呈现出严重的内部分化，头部城商行表现优异，但尾部银行则存在较大差距。这提醒我们需要关注不同类型银行之间的发展不平衡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这张散点图揭示了一个非常关键的洞察——“言行偏离”。我们发现，部分城商行将某些议题在报告中列为“高重要性”，但实际披露的可核查性却很低。这正是我们所说的“漂绿”嫌疑。这些银行应该成为监管和投资者重点关注的对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过程中，我们遇到了8个关键问题并逐一解决。例如，我们清洗了HTML标签污染，修正了LLM的误判，并解决了数据缺失问题。其中最关键的决策是，当LLM服务不稳定时，我们果断降级为规则保底方案，这使得处理速度提升了10倍，确保了项目的成功交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AI辅助编码进行反思。AI在生成代码框架、正则表达式等方面给了我们很大帮助，极大地加速了开发进程。但同时，我们也发现AI会出现幻觉、生成错误代码等问题。因此，我们总结出的核心经验是：“规则优先，LLM兜底”。AI是强大的辅助工具，但最终的责任必须由人来承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jpe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9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0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9" Type="http://schemas.openxmlformats.org/officeDocument/2006/relationships/notesSlide" Target="../notesSlides/notesSlide8.xml"/><Relationship Id="rId28" Type="http://schemas.openxmlformats.org/officeDocument/2006/relationships/slideLayout" Target="../slideLayouts/slideLayout12.xml"/><Relationship Id="rId27" Type="http://schemas.openxmlformats.org/officeDocument/2006/relationships/image" Target="../media/image20.svg"/><Relationship Id="rId26" Type="http://schemas.openxmlformats.org/officeDocument/2006/relationships/image" Target="../media/image19.png"/><Relationship Id="rId25" Type="http://schemas.openxmlformats.org/officeDocument/2006/relationships/tags" Target="../tags/tag18.xml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image" Target="../media/image36.svg"/><Relationship Id="rId21" Type="http://schemas.openxmlformats.org/officeDocument/2006/relationships/image" Target="../media/image35.png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image" Target="../media/image34.svg"/><Relationship Id="rId13" Type="http://schemas.openxmlformats.org/officeDocument/2006/relationships/image" Target="../media/image33.png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9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svg"/><Relationship Id="rId7" Type="http://schemas.openxmlformats.org/officeDocument/2006/relationships/image" Target="../media/image43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46.sv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7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8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9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svg"/><Relationship Id="rId8" Type="http://schemas.openxmlformats.org/officeDocument/2006/relationships/image" Target="../media/image51.png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tags" Target="../tags/tag19.xml"/><Relationship Id="rId21" Type="http://schemas.openxmlformats.org/officeDocument/2006/relationships/notesSlide" Target="../notesSlides/notesSlide15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50.jpeg"/><Relationship Id="rId19" Type="http://schemas.openxmlformats.org/officeDocument/2006/relationships/tags" Target="../tags/tag27.xml"/><Relationship Id="rId18" Type="http://schemas.openxmlformats.org/officeDocument/2006/relationships/image" Target="../media/image56.svg"/><Relationship Id="rId17" Type="http://schemas.openxmlformats.org/officeDocument/2006/relationships/image" Target="../media/image55.png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image" Target="../media/image54.svg"/><Relationship Id="rId13" Type="http://schemas.openxmlformats.org/officeDocument/2006/relationships/image" Target="../media/image53.png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8.png"/><Relationship Id="rId1" Type="http://schemas.openxmlformats.org/officeDocument/2006/relationships/image" Target="../media/image5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4D4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上市银行ESG报告“绩效可核查性”评估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329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368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基于编制基础与披露透明度的跨年度分析（2021–2025）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334000"/>
            <a:ext cx="1016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5524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陶羿莼</a:t>
            </a:r>
            <a:r>
              <a:rPr lang="en-US" altLang="zh-CN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朱洁</a:t>
            </a:r>
            <a:r>
              <a:rPr lang="en-US" altLang="zh-CN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陈欣悦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31254">
            <a:off x="5778500" y="5835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350000" y="5524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4D4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70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8636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65200" y="1968500"/>
            <a:ext cx="63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1968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题目与金融问题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明确研究聚焦的公告类型，界定项目致力于解决的核心金融问题与研究目标。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2984500"/>
            <a:ext cx="5270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2984500"/>
            <a:ext cx="76200" cy="8636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65200" y="3048000"/>
            <a:ext cx="63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3048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巨潮数据来源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梳理数据获取的官方入口，明确筛选关键词、公告类型、时间范围及最终样本规模。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000500"/>
            <a:ext cx="5270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4000500"/>
            <a:ext cx="76200" cy="8636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65200" y="4064000"/>
            <a:ext cx="63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778000" y="4064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难度档位分析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结合项目复杂度与技术挑战，阐述申请难度档位1.1/1.0/1.1的具体依据与考量因素。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016500"/>
            <a:ext cx="5270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016500"/>
            <a:ext cx="76200" cy="8636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65200" y="5080000"/>
            <a:ext cx="63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778000" y="5080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字段与Schema设计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定义核心数据字段、规范字段类型，确立空值处理规则(null rule)及关键证据字段。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5389016">
            <a:off x="4260850" y="3886210"/>
            <a:ext cx="397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13500" y="1905000"/>
            <a:ext cx="5270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13500" y="1905000"/>
            <a:ext cx="76200" cy="8636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16700" y="1968500"/>
            <a:ext cx="63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429500" y="1968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PDF解析与章节检查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基于MinerU工具完成PDF解析，精准定位目标章节，并执行严格的人工复核检查流程。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13500" y="2984500"/>
            <a:ext cx="5270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413500" y="2984500"/>
            <a:ext cx="76200" cy="8636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616700" y="3048000"/>
            <a:ext cx="63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29500" y="3048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全流程Workflow构建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拆解从元数据(metadata)清洗、处理到最终生成结构化结果的完整业务与技术流程。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413500" y="4000500"/>
            <a:ext cx="5270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413500" y="4000500"/>
            <a:ext cx="76200" cy="8636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616700" y="4064000"/>
            <a:ext cx="63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429500" y="4064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案例Demo演示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以真实公告为案例，直观展示从原始PDF文件到最终结构化数据结果的完整转化过程。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6413500" y="5016500"/>
            <a:ext cx="52705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413500" y="5016500"/>
            <a:ext cx="76200" cy="8636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616700" y="5080000"/>
            <a:ext cx="63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429500" y="5080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项目评估与反思总结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汇报人工评估样本结果、核心指标达成情况，并深度反思AI辅助编码的得与失。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题目与金融问题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6858000" cy="1270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635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核心研究主题：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聚焦A股上市银行发布的ESG/社会责任/可持续发展报告，核心评估报告中关键绩效指标（KPI）的“绩效可核查性（Verifiability）”，探索数据真实性与披露质量的底层逻辑。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215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3302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3302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透明度评估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22917">
            <a:off x="889021" y="3803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89000" y="3937000"/>
            <a:ext cx="190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探究银行在绿色信贷、普惠金融等核心ESG议题上，披露信息的清晰度、完整性与可追溯性处于何种水平。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238500" y="3175000"/>
            <a:ext cx="215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5500" y="3302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746500" y="3302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趋势性分析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22917">
            <a:off x="3365521" y="3803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365500" y="3937000"/>
            <a:ext cx="190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分析2021-2025年间，银行ESG披露透明度的动态演变，判断是呈现逐年提升、停滞不前还是周期性波动特征。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651500" y="3175000"/>
            <a:ext cx="215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8500" y="3302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159500" y="3302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系统性差异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2917">
            <a:off x="5778521" y="38036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778500" y="3937000"/>
            <a:ext cx="190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对比国有大行、股份制银行及城商行，分析不同类型机构在ESG信息披露可核查性上是否存在结构性差距。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7048500" cy="1143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7048500" cy="12700"/>
          </a:xfrm>
          <a:prstGeom prst="roundRect">
            <a:avLst>
              <a:gd name="adj" fmla="val 0"/>
            </a:avLst>
          </a:prstGeom>
          <a:solidFill>
            <a:srgbClr val="004D4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89000" y="5461000"/>
            <a:ext cx="323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投资者视角：</a:t>
            </a:r>
            <a:r>
              <a:rPr lang="en-US" sz="12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可靠的ESG数据是价值投资和风险管理的基石，直接影响资产定价的准确性与投资组合的长期稳健性。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50892">
            <a:off x="3835400" y="5899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4406900" y="5461000"/>
            <a:ext cx="323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监管与政策背景：</a:t>
            </a:r>
            <a:r>
              <a:rPr lang="en-US" sz="12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从2024《可持续发展报告指引》到2025《企业可持续披露准则》，监管正加速构建标准化、可核查的披露体系。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rcRect t="4000" b="4000"/>
          <a:stretch>
            <a:fillRect/>
          </a:stretch>
        </p:blipFill>
        <p:spPr>
          <a:xfrm>
            <a:off x="8255000" y="1905000"/>
            <a:ext cx="3175000" cy="292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8" name="AutoShape 28"/>
          <p:cNvSpPr/>
          <p:nvPr/>
        </p:nvSpPr>
        <p:spPr>
          <a:xfrm>
            <a:off x="8255000" y="5080000"/>
            <a:ext cx="3175000" cy="1397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255000" y="5080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445500" y="52070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ESG报告不仅是企业的“成绩单”，更是利益相关方决策的依据。提升KPI的可核查性，是实现金融市场可持续发展的关键前提。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巨潮数据来源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508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1905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133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095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数据获取平台与方法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3750">
            <a:off x="952513" y="2660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2857500"/>
            <a:ext cx="317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官方平台：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巨潮资讯网（cninfo.com.cn），中国证监会指定的上市公司信息披露官方网站，确保数据权威性与合规性。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技术手段：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通过Python的AKShare库调用公告接口，实现程序化、自动化的数据检索与批量下载，提升获取效率。</a:t>
            </a:r>
            <a:endParaRPr lang="en-US" sz="16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572000" y="1905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72000" y="1905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0" y="2133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07000" y="2095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多维精准筛选条件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3750">
            <a:off x="4762513" y="2660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762500" y="2857500"/>
            <a:ext cx="317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关键词策略：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覆盖“ESG报告、社会责任报告、可持续发展报告”等全维度相关术语，无遗漏检索。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时空范围：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时间跨度2021-2026年，覆盖5个完整财年；样本包含全部42家A股上市银行，实现主体全覆盖。</a:t>
            </a:r>
            <a:endParaRPr lang="en-US" sz="16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28000" y="1905000"/>
            <a:ext cx="3302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1905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2133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699500" y="20955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样本清洗与校验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3185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18500" y="2857500"/>
            <a:ext cx="292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数据完整性：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剔除重复与无效报告，对缺失文本进行OCR识别补充，确保每份报告数据可分析、可挖掘。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质量把控：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人工随机抽检10%样本进行复核，确保电子文档与纸质公告内容一致性，数据可信度100%。</a:t>
            </a:r>
            <a:endParaRPr lang="en-US" sz="16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89000" y="54610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210</a:t>
            </a:r>
            <a:r>
              <a:rPr lang="en-US" sz="1600" b="0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份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89000" y="5969000"/>
            <a:ext cx="2349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目标样本：42家银行 × 5个年度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50892">
            <a:off x="3048000" y="5899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3619500" y="5334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3746500" y="54610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216</a:t>
            </a:r>
            <a:r>
              <a:rPr lang="en-US" sz="1600" b="0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份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746500" y="5969000"/>
            <a:ext cx="2349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实际获取：含多份专项/绿色金融报告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5350892">
            <a:off x="5905500" y="5899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477000" y="5334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604000" y="54610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</a:t>
            </a:r>
            <a:r>
              <a:rPr lang="en-US" sz="1600" b="0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604000" y="5969000"/>
            <a:ext cx="2349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下载成功率：PDF文档完整无缺失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5350892">
            <a:off x="8763000" y="5899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9334500" y="5334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461500" y="54610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</a:t>
            </a:r>
            <a:r>
              <a:rPr lang="en-US" sz="1600" b="0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461500" y="5969000"/>
            <a:ext cx="2349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银行覆盖率：全A股上市银行纳入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难度档位：申请 1.1 挑战档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032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413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数据规模：量级远超标准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10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365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项目处理了约</a:t>
            </a:r>
            <a:r>
              <a:rPr lang="en-US" sz="20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210份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PDF报告，覆盖42家A股上市银行长达5年（2021-2025）的完整披露数据，时间跨度与样本广度兼备。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080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样本涵盖6家国有大行、12家股份制银行及24家头部城商行，兼顾不同层级机构特征，构成了具有高度市场代表性的研究样本库。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032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413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2413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分析维度：多层级复杂度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946">
            <a:off x="4635514" y="310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35500" y="3365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以“银行-年度”为独立分析事件，在每个事件内深挖</a:t>
            </a:r>
            <a:r>
              <a:rPr lang="en-US" sz="20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6个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核心ESG议题，每个议题下设3个关键锚点进行精准定位与信息抽取。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35500" y="5080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通过多维度交叉验证，项目实际产出的有效分析单元总量超过</a:t>
            </a:r>
            <a:r>
              <a:rPr lang="en-US" sz="15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3,780个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，确保了分析结论的深度与可靠性。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01000" y="2032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413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763000" y="2413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技术实现：全栈工程链路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946">
            <a:off x="8255014" y="310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255000" y="33655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构建了从原始非结构化数据到最终业务洞察的完整闭环工程链，技术栈覆盖PDF智能解析、动态章节路由、多锚点混合信息抽取、跨年数据关联与趋势计算等核心技术环节。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5000" y="5080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同时配套了人工抽样评估机制与全流程可追溯性设计，实现了技术实现与业务验证的有机结合，满足了挑战档对工程化能力的严苛要求。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字段与 Schema：核心设计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057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规则字段：100% 确定性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857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构建8个布尔型基础字段，完全基于关键词匹配与正则表达式实现，从源头消除幻觉风险，经人工抽样验证，准确率达到</a:t>
            </a: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318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4445000"/>
            <a:ext cx="279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 has_policy_ref、has_scope_statement、has_kpi_value、in_material_matrix 等关键标识。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1778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095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80000" y="2057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派生字段：核心评估指标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946">
            <a:off x="46355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2857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基于底层规则字段进行逻辑运算，生成2个核心复合指标，量化披露质量与行为一致性。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2000" y="3937000"/>
            <a:ext cx="3048000" cy="5715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99000" y="4038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可核查性评分：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0-5分综合评估披露完整性与规范性。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72000" y="4699000"/>
            <a:ext cx="3048000" cy="5715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699000" y="4800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言行偏离标记：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识别“口头重视、执行缺失”的议题偏差。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01000" y="1778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001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095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699500" y="2057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LLM字段：规则保底策略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946">
            <a:off x="8255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191500" y="2857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原计划采用LLM进行语义判断，因API稳定性不可控，果断调整为“规则保底”方案，在保障结果可用的前提下优化流程。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91500" y="4318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318500" y="4445000"/>
            <a:ext cx="279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技术决策的调整不仅规避了风险，更将字段处理速度提升了</a:t>
            </a:r>
            <a:r>
              <a:rPr lang="en-US" sz="1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10倍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，确保了项目的高效交付与稳定性。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62000" y="5778500"/>
            <a:ext cx="76200" cy="762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016000" y="58801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体系价值：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通过“规则-派生-保底”的三层架构，成功平衡了数据处理的效率、准确性与分析深度，为后续的ESG议题评估建立了坚实的数据基础。</a:t>
            </a:r>
            <a:endParaRPr lang="en-US" sz="1100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9180" y="1711325"/>
            <a:ext cx="7057390" cy="3784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5935" y="3127375"/>
            <a:ext cx="7918450" cy="20161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5935" y="3021330"/>
            <a:ext cx="7918450" cy="2199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PDF 解析与 Section 检查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905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双引擎 PDF 解析方案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27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413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pdfminer.six (94.4%)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高效处理原生文字版PDF，提取文本信息完整准确，覆盖绝大多数标准文档场景。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47115">
            <a:off x="3041650" y="2882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581400" y="2413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PaddleOCR (5.6%)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针对扫描版PDF进行光学字符识别，精准还原图像中的文字内容，补齐非原生文档解析能力。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3937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064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四级优先级章节路由定位策略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1016009" y="456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4699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精确匹配 &amp; 02 关键词匹配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优先校验标题一致性，再检索标题含有关键词的章节，确保定位精准度。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50892">
            <a:off x="3009900" y="5200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581400" y="4699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内容搜索 &amp; 04 模糊匹配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正文全域搜索关键词，最后利用相似度算法匹配标题，保障覆盖率无遗漏。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rcRect t="3692" b="3692"/>
          <a:stretch>
            <a:fillRect/>
          </a:stretch>
        </p:blipFill>
        <p:spPr>
          <a:xfrm>
            <a:off x="6604000" y="1651000"/>
            <a:ext cx="4826000" cy="2032000"/>
          </a:xfrm>
          <a:prstGeom prst="rect">
            <a:avLst/>
          </a:prstGeom>
          <a:noFill/>
          <a:ln w="12700" cap="flat" cmpd="sng">
            <a:solidFill>
              <a:srgbClr val="004D40">
                <a:alpha val="30000"/>
              </a:srgbClr>
            </a:solidFill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6604000" y="4064000"/>
            <a:ext cx="2349500" cy="2032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731000" y="42545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高置信度占比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731000" y="4826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74.5%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731000" y="56515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自动化定位效果良好，精准覆盖核心议题。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80500" y="4064000"/>
            <a:ext cx="2349500" cy="2032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207500" y="42545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需人工确认占比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07500" y="4826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45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25.5%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207500" y="56515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共1,263条记录，低置信度部分需人工介入复核。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Workflow：项目整体工作流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4D4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4D4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222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460500" y="21844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A：数据供给层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8"/>
            </p:custDataLst>
          </p:nvPr>
        </p:nvCxnSpPr>
        <p:spPr>
          <a:xfrm rot="-14323">
            <a:off x="9525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952500" y="3048000"/>
            <a:ext cx="3048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负责从巨潮资讯平台批量获取上市公司的原始PDF公告文件及其关键元数据，为后续处理奠定基础。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关键产出：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成功获取216份完整PDF文件，实现100%的下载成功率，保障了数据源的完整性与准确性。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381500" y="1905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4D4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3815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72000" y="2222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5080000" y="21844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B：内容解析线</a:t>
            </a:r>
            <a:endParaRPr lang="en-US" sz="1100"/>
          </a:p>
        </p:txBody>
      </p:sp>
      <p:cxnSp>
        <p:nvCxnSpPr>
          <p:cNvPr id="15" name="Connector 15"/>
          <p:cNvCxnSpPr/>
          <p:nvPr>
            <p:custDataLst>
              <p:tags r:id="rId16"/>
            </p:custDataLst>
          </p:nvPr>
        </p:nvCxnSpPr>
        <p:spPr>
          <a:xfrm rot="-14323">
            <a:off x="45720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4572000" y="3048000"/>
            <a:ext cx="3048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解析PDF文本内容，利用文本特征定位并划分6个核心议题所在的章节，解决非结构化文本的定位难题。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关键产出：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生成结构化的章节定位信息文件 section_locations.csv，明确了各核心议题在文档中的精确位置。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8001000" y="1905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4D4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8001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191500" y="2222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8699500" y="21844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C：数据抽取线</a:t>
            </a:r>
            <a:endParaRPr lang="en-US" sz="1100"/>
          </a:p>
        </p:txBody>
      </p:sp>
      <p:cxnSp>
        <p:nvCxnSpPr>
          <p:cNvPr id="21" name="Connector 21"/>
          <p:cNvCxnSpPr/>
          <p:nvPr>
            <p:custDataLst>
              <p:tags r:id="rId24"/>
            </p:custDataLst>
          </p:nvPr>
        </p:nvCxnSpPr>
        <p:spPr>
          <a:xfrm rot="-14323">
            <a:off x="81915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25"/>
            </p:custDataLst>
          </p:nvPr>
        </p:nvSpPr>
        <p:spPr>
          <a:xfrm>
            <a:off x="8191500" y="3048000"/>
            <a:ext cx="3048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基于已定位的章节内容，提取关键信息并进行结构化转换，同时依据预设规则完成内容的量化评分。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关键产出：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输出最终的标准化数据集 base_records_fixed.csv，包含所有抽取数据与评分结果，为分析提供核心支撑。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52500" y="55626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651000" y="5435600"/>
            <a:ext cx="958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协作接口与闭环管理：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建立了明确的上下游数据接口规范，确保各环节数据格式统一、流转顺畅。通过持续的阶段性反馈与校验机制，及时发现并修正数据处理中的偏差，形成了“供给-解析-抽取-反馈”的完整质量控制闭环，保障了项目成果的可靠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Demo：案例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</a:t>
            </a:r>
            <a:endParaRPr lang="zh-CN" altLang="en-US" sz="3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76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2380" r="2380"/>
          <a:stretch>
            <a:fillRect/>
          </a:stretch>
        </p:blipFill>
        <p:spPr>
          <a:xfrm>
            <a:off x="1016000" y="1968500"/>
            <a:ext cx="1270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540000" y="1968500"/>
            <a:ext cx="323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成功案例：平安银行 (2025)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文档ID: 2025-1225022899 | 议题：公司治理 / 风险管理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3105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2349500" cy="9525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33655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政策与范围明确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提及“三道防线”与“覆盖前中后台的全流程”，框架完整，定义清晰。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492500" y="3302000"/>
            <a:ext cx="2349500" cy="9525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619500" y="33655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量化数据详实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披露资产总额5.93万亿元，同比增长2.7%，关键KPI与同比数据均有效提取。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16000" y="4445000"/>
            <a:ext cx="2349500" cy="9525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143000" y="45085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综合评分：4分 (良好)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结构化信息完整度高，可验证性强，符合ESG报告披露规范。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92500" y="4445000"/>
            <a:ext cx="2349500" cy="9525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619500" y="45085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行业启示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头部金融机构的ESG信息披露已相当规范，具备高度的参考与示范价值。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59500" y="1651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159500" y="1651000"/>
            <a:ext cx="5270500" cy="76200"/>
          </a:xfrm>
          <a:prstGeom prst="roundRect">
            <a:avLst>
              <a:gd name="adj" fmla="val 0"/>
            </a:avLst>
          </a:prstGeom>
          <a:solidFill>
            <a:srgbClr val="D32F2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 t="3324" b="3323"/>
          <a:stretch>
            <a:fillRect/>
          </a:stretch>
        </p:blipFill>
        <p:spPr>
          <a:xfrm>
            <a:off x="6413500" y="1968500"/>
            <a:ext cx="1270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7937500" y="1968500"/>
            <a:ext cx="323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62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失败案例：华夏银行 (2021)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文档ID: 600015-2021-1213267945 | 问题：解析与提取全流程失败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9167">
            <a:off x="6413508" y="3105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32F2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13500" y="3302000"/>
            <a:ext cx="2349500" cy="952500"/>
          </a:xfrm>
          <a:prstGeom prst="roundRect">
            <a:avLst>
              <a:gd name="adj" fmla="val 0"/>
            </a:avLst>
          </a:prstGeom>
          <a:solidFill>
            <a:srgbClr val="D32F2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40500" y="33655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62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底层解析失败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MinerU解析后证据片段显示为乱码，无法识别文档中的有效文本信息。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890000" y="3302000"/>
            <a:ext cx="2349500" cy="952500"/>
          </a:xfrm>
          <a:prstGeom prst="roundRect">
            <a:avLst>
              <a:gd name="adj" fmla="val 0"/>
            </a:avLst>
          </a:prstGeom>
          <a:solidFill>
            <a:srgbClr val="D32F2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017000" y="33655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62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规则字段全空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所有结构化信息提取字段均为False，无法获取任何政策、范围或数据内容。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13500" y="4445000"/>
            <a:ext cx="2349500" cy="952500"/>
          </a:xfrm>
          <a:prstGeom prst="roundRect">
            <a:avLst>
              <a:gd name="adj" fmla="val 0"/>
            </a:avLst>
          </a:prstGeom>
          <a:solidFill>
            <a:srgbClr val="D32F2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540500" y="45085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62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可验证性评分：0分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因无可用文本数据，系统判定报告完全不可验证，无法进行ESG评级。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890000" y="4445000"/>
            <a:ext cx="2349500" cy="952500"/>
          </a:xfrm>
          <a:prstGeom prst="roundRect">
            <a:avLst>
              <a:gd name="adj" fmla="val 0"/>
            </a:avLst>
          </a:prstGeom>
          <a:solidFill>
            <a:srgbClr val="D32F2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017000" y="4508500"/>
            <a:ext cx="209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62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核心根因分析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报告为扫描版PDF文件，而非原生数字文档，导致OCR识别与结构化解析均失效。</a:t>
            </a:r>
            <a:r>
              <a:rPr lang="en-US" altLang="zh-CN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</a:t>
            </a:r>
            <a:r>
              <a:rPr lang="zh-CN" alt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虽然"成功"返回了</a:t>
            </a:r>
            <a:r>
              <a:rPr lang="en-US" altLang="zh-CN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</a:t>
            </a:r>
            <a:r>
              <a:rPr lang="zh-CN" alt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但内容为空。</a:t>
            </a:r>
            <a:endParaRPr lang="zh-CN" alt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762000" y="61595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89000" y="6223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核心洞察：原生数字化报告是ESG信息自动提取的前提，扫描版文档会导致系统完全失效，凸显了文档格式规范的重要性。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评估结果：热力图分析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8995" b="18995"/>
          <a:stretch>
            <a:fillRect/>
          </a:stretch>
        </p:blipFill>
        <p:spPr>
          <a:xfrm>
            <a:off x="762000" y="1651000"/>
            <a:ext cx="4572000" cy="3429000"/>
          </a:xfrm>
          <a:prstGeom prst="rect">
            <a:avLst/>
          </a:prstGeom>
          <a:noFill/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图1：银行业ESG议题可核查性评分热力图（5年平均）。该图直观呈现了不同银行主体在各核心ESG议题上的信息披露质量与可核查程度差异。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708">
            <a:off x="3492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096000" y="1651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096000" y="1651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公司治理与风险管理表现突出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594">
            <a:off x="6350008" y="2279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350000" y="24130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该维度评分均值约3.5，为所有议题中最高。主要因受监管强制披露要求约束，相关报告模板化、标准化程度高，信息可核查性强。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96000" y="33655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096000" y="33655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4D4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0" y="34925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绿色信贷披露质量分化显著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8594">
            <a:off x="6350008" y="3994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350000" y="41275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国有大行的披露质量普遍高于城商行，差异或源于央行对不同类型银行的统计口径与报送要求不同，导致信息精细化程度不一。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96000" y="5080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096000" y="508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4D4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350000" y="5207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部分城商行存在明显改进空间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8594">
            <a:off x="6350008" y="5708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350000" y="58166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张家港银行、常熟银行等部分城商行评分低于2.0，在数据详实性与披露规范性上存在短板，信息透明度有待进一步提升。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评估结果：趋势图分析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4D4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3167" r="3167"/>
          <a:stretch>
            <a:fillRect/>
          </a:stretch>
        </p:blipFill>
        <p:spPr>
          <a:xfrm>
            <a:off x="762000" y="1778000"/>
            <a:ext cx="5334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53975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图2：2021-2025年银行业ESG可核查性评分趋势。数据显示各类银行主体评分均呈上升态势，行业整体披露规范性持续增强。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90450">
            <a:off x="4191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731000" y="1778000"/>
            <a:ext cx="2476500" cy="20955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31000" y="177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1968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1930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行业整体稳中有升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0" y="25400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全行业可核查性平均分从2021年的3.23分提升至2025年的3.76分，年均增长0.13分，披露质量呈现持续向好的发展态势。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34500" y="1778000"/>
            <a:ext cx="2476500" cy="20955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334500" y="177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968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842500" y="1930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股份制银行领跑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461500" y="25400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股份制银行在ESG信息披露的可核查性上表现最为稳定，评分始终持续领先于全行业均值，展现出成熟的管理与披露体系。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731000" y="4191000"/>
            <a:ext cx="2476500" cy="20955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731000" y="419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4381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4343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政策驱动显现峰值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858000" y="49530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2023年国有大行评分达4.00分峰值，与《银行业保险业绿色金融指引》等监管政策出台的驱动效应高度相关，合规性显著增强。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334500" y="4191000"/>
            <a:ext cx="2476500" cy="20955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334500" y="419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61500" y="4381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842500" y="4343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城商行快速追赶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461500" y="49530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城商行在ESG信息披露方面的进步显著，其与国有大行、股份制银行的评分差距逐年缩小，追赶势头强劲，整体发展均衡。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评估结果：箱线图分析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173" b="2173"/>
          <a:stretch>
            <a:fillRect/>
          </a:stretch>
        </p:blipFill>
        <p:spPr>
          <a:xfrm>
            <a:off x="762000" y="1778000"/>
            <a:ext cx="5334000" cy="3556000"/>
          </a:xfrm>
          <a:prstGeom prst="rect">
            <a:avLst/>
          </a:prstGeom>
          <a:noFill/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588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图3：不同类型银行ESG可核查性评分分布对比箱线图，展示了国有大行、股份制银行与城商行在评分均值、四分位距及异常值上的显著差异。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450">
            <a:off x="4191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731000" y="1778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985000" y="17780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领先银行表现均衡且高质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国有大行和股份制银行的评分中位数集中在3.5-4.0区间，四分位距（IQR）较窄，反映出这类银行在ESG信息披露质量上不仅整体水平高，且内部表现高度一致、稳定性强。</a:t>
            </a:r>
            <a:endParaRPr lang="en-US" sz="1400" b="0" i="0" u="none" strike="noStrik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731000" y="33655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4D4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985000" y="33655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城商行内部分化态势显著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城商行的四分位距跨度达2.0-4.0，呈现出“两头分化”特征：头部城商行已逼近领先银行水平，但尾部城商行表现不佳，行业整体发展极不均衡。</a:t>
            </a:r>
            <a:endParaRPr lang="en-US" sz="1400" b="0" i="0" u="none" strike="noStrik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731000" y="5080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4D4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985000" y="50800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低分异常值多为技术成因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城商行中出现的0分或1.0分低分异常值，经核查并非主观披露意愿低，主要源于数据格式不规范、系统解析失败等技术性问题，可通过技术优化改善。</a:t>
            </a:r>
            <a:endParaRPr lang="en-US" sz="1400" b="0" i="0" u="none" strike="noStrik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评估结果：“言行偏离”分析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238" b="2238"/>
          <a:stretch>
            <a:fillRect/>
          </a:stretch>
        </p:blipFill>
        <p:spPr>
          <a:xfrm>
            <a:off x="762000" y="1778000"/>
            <a:ext cx="5207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图4：银行业ESG议题“言行偏离”分析散点图。横轴为重要性评分，纵轴为可核查性评分，揭示了部分机构在高重要性议题上的披露质量短板。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450">
            <a:off x="4064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1778000"/>
            <a:ext cx="4826000" cy="14605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858000" y="190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关键洞察：高重要性与低可核查性的背离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858000" y="2413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数据显示，部分城商行集中落在散点图“高重要性-低可核查性”的右下象限，即在报告中宣称议题重要，却缺乏实质性、可验证的披露内容。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3492500"/>
            <a:ext cx="4826000" cy="14605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34925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4D4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858000" y="3619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现象本质：典型的“言行偏离”与“漂绿”嫌疑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858000" y="4127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这类机构的可核查性评分普遍≤2分，存在“口号式”披露的特征。这种行为不仅误导市场，也削弱了ESG报告的公信力，构成了潜在的声誉风险。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5143500"/>
            <a:ext cx="4826000" cy="1270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51435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4D4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858000" y="52705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监管与投资建议：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应将此类机构列为重点关注对象，督促其完善高重要性议题的KPI量化指标体系，明确数据统计范围与口径，强化披露内容的真实性与可追溯性。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优化过程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2742" r="12742"/>
          <a:stretch>
            <a:fillRect/>
          </a:stretch>
        </p:blipFill>
        <p:spPr>
          <a:xfrm>
            <a:off x="762000" y="1778000"/>
            <a:ext cx="3810000" cy="292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3810000" cy="1143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5207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团队协作审查代码，针对项目中遇到的8个核心技术问题进行深度复盘与攻坚，通过规则优化与架构调整，确保系统稳定高效运行。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90450">
            <a:off x="2667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207000" y="1778000"/>
            <a:ext cx="3238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207000" y="1778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334000" y="1841500"/>
            <a:ext cx="298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清洗HTML标签污染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编写清洗函数过滤冗余标签，将字段提取准确率从95%提升至100%，确保数据纯净。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207000" y="3048000"/>
            <a:ext cx="3238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207000" y="3048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334000" y="3111500"/>
            <a:ext cx="298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消除目录页误判干扰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增加目录页关键词检测规则，精准识别干扰页面，将LLM误判率从15%降至0，提升分析精度。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207000" y="4254500"/>
            <a:ext cx="3238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207000" y="42545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334000" y="4318000"/>
            <a:ext cx="298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完善溯源与验证机制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引入source_page_warning字段标记异常，实现问题可追溯，增强分析结果的可信度与严谨性。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636000" y="1778000"/>
            <a:ext cx="3238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636000" y="1778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763000" y="1841500"/>
            <a:ext cx="298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补齐核心数据缺失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通过doc_id反向映射股票代码，并建立BANK_NAMES映射表，将银行代码与名称数据全部补全。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636000" y="3048000"/>
            <a:ext cx="32385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763000" y="3111500"/>
            <a:ext cx="298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架构降级：规则保底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针对LLM服务不稳定问题，果断部分禁用LLM，改用规则引擎保底，处理速度提升10倍。</a:t>
            </a:r>
            <a:endParaRPr lang="en-US" sz="12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636000" y="4254500"/>
            <a:ext cx="3238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636000" y="42545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763000" y="4318000"/>
            <a:ext cx="298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07-08. 工程化与细节调优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通过临时文件策略解决权限锁定问题；收紧正则边界并增加上下文过滤，将KPI误判率降至1%以下。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207000" y="5588000"/>
            <a:ext cx="6667500" cy="7620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5334000" y="5689600"/>
            <a:ext cx="6413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通过对数据清洗、模型策略、工程实现三个维度的系统性优化，不仅解决了现有问题，更构建了稳健的兜底机制，保障项目高质量交付。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Vibe Coding 反思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877" r="877"/>
          <a:stretch>
            <a:fillRect/>
          </a:stretch>
        </p:blipFill>
        <p:spPr>
          <a:xfrm>
            <a:off x="762000" y="1651000"/>
            <a:ext cx="3556000" cy="2413000"/>
          </a:xfrm>
          <a:prstGeom prst="rect">
            <a:avLst/>
          </a:prstGeom>
          <a:noFill/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318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在实际编码场景中，AI 编程助手已深度融入开发流程。从代码生成到结构建议，它展现了强大的辅助能力，但也伴随着不可忽视的局限性，需要开发者审慎对待。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8145">
            <a:off x="2984500" y="3486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080000" y="1651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AI 的赋能价值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0" y="24130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5461000" y="23876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效率与结构双重提升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快速生成 Pydantic Schema 与可视化图表框架，提供断点续传等工程化代码结构建议，大幅节省开发时间。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80000" y="4064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5461000" y="40386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复杂逻辑的有效辅助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提供识别 KPI 的正则表达式模板，辅助构建核心业务逻辑，降低了编写复杂代码片段的门槛。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1"/>
            </p:custDataLst>
          </p:nvPr>
        </p:nvCxnSpPr>
        <p:spPr>
          <a:xfrm rot="5388145">
            <a:off x="6794500" y="3486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763000" y="165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628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不可忽视的局限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63000" y="2413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9080500" y="2387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准确性与逻辑隐患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存在 LLM 幻觉误判重要性、正则匹配过宽及变量作用域错误等问题，生成代码可能隐含 Bug。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763000" y="4064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9080500" y="4038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生产环境的适用性风险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过度推荐 Ollama 等不稳定方案，缺乏对生产环境稳定性的考量，建议需经过严格验证方可采纳。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004D40">
              <a:alpha val="8000"/>
            </a:srgbClr>
          </a:solidFill>
          <a:ln w="12700" cap="flat" cmpd="sng">
            <a:solidFill>
              <a:srgbClr val="004D4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71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“规则优先，LLM兜底” ——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可极大加速开发进程，但最终的工程决策、质量控制和结果验证，必须由人主导和负责。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79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93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445000"/>
            <a:ext cx="952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感谢聆听，期待与各位就金融ESG的实践与发展进行深入交流，欢迎提出宝贵的意见和建议。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2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3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4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5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6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7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8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9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10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11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12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13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14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15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16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17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18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19.xml><?xml version="1.0" encoding="utf-8"?>
<p:tagLst xmlns:p="http://schemas.openxmlformats.org/presentationml/2006/main">
  <p:tag name="KSO_WM_DIAGRAM_VIRTUALLY_FRAME" val="{&quot;height&quot;:290.001724132799,&quot;left&quot;:400,&quot;top&quot;:130.0000040753328,&quot;width&quot;:535}"/>
</p:tagLst>
</file>

<file path=ppt/tags/tag20.xml><?xml version="1.0" encoding="utf-8"?>
<p:tagLst xmlns:p="http://schemas.openxmlformats.org/presentationml/2006/main">
  <p:tag name="KSO_WM_DIAGRAM_VIRTUALLY_FRAME" val="{&quot;height&quot;:290.001724132799,&quot;left&quot;:400,&quot;top&quot;:130.0000040753328,&quot;width&quot;:535}"/>
</p:tagLst>
</file>

<file path=ppt/tags/tag21.xml><?xml version="1.0" encoding="utf-8"?>
<p:tagLst xmlns:p="http://schemas.openxmlformats.org/presentationml/2006/main">
  <p:tag name="KSO_WM_DIAGRAM_VIRTUALLY_FRAME" val="{&quot;height&quot;:290.001724132799,&quot;left&quot;:400,&quot;top&quot;:130.0000040753328,&quot;width&quot;:535}"/>
</p:tagLst>
</file>

<file path=ppt/tags/tag22.xml><?xml version="1.0" encoding="utf-8"?>
<p:tagLst xmlns:p="http://schemas.openxmlformats.org/presentationml/2006/main">
  <p:tag name="KSO_WM_DIAGRAM_VIRTUALLY_FRAME" val="{&quot;height&quot;:290.001724132799,&quot;left&quot;:400,&quot;top&quot;:130.0000040753328,&quot;width&quot;:535}"/>
</p:tagLst>
</file>

<file path=ppt/tags/tag23.xml><?xml version="1.0" encoding="utf-8"?>
<p:tagLst xmlns:p="http://schemas.openxmlformats.org/presentationml/2006/main">
  <p:tag name="KSO_WM_DIAGRAM_VIRTUALLY_FRAME" val="{&quot;height&quot;:290.001724132799,&quot;left&quot;:400,&quot;top&quot;:130.0000040753328,&quot;width&quot;:535}"/>
</p:tagLst>
</file>

<file path=ppt/tags/tag24.xml><?xml version="1.0" encoding="utf-8"?>
<p:tagLst xmlns:p="http://schemas.openxmlformats.org/presentationml/2006/main">
  <p:tag name="KSO_WM_DIAGRAM_VIRTUALLY_FRAME" val="{&quot;height&quot;:290.001724132799,&quot;left&quot;:400,&quot;top&quot;:130.0000040753328,&quot;width&quot;:535}"/>
</p:tagLst>
</file>

<file path=ppt/tags/tag25.xml><?xml version="1.0" encoding="utf-8"?>
<p:tagLst xmlns:p="http://schemas.openxmlformats.org/presentationml/2006/main">
  <p:tag name="KSO_WM_DIAGRAM_VIRTUALLY_FRAME" val="{&quot;height&quot;:290.001724132799,&quot;left&quot;:400,&quot;top&quot;:130.0000040753328,&quot;width&quot;:535}"/>
</p:tagLst>
</file>

<file path=ppt/tags/tag26.xml><?xml version="1.0" encoding="utf-8"?>
<p:tagLst xmlns:p="http://schemas.openxmlformats.org/presentationml/2006/main">
  <p:tag name="KSO_WM_DIAGRAM_VIRTUALLY_FRAME" val="{&quot;height&quot;:290.001724132799,&quot;left&quot;:400,&quot;top&quot;:130.0000040753328,&quot;width&quot;:535}"/>
</p:tagLst>
</file>

<file path=ppt/tags/tag27.xml><?xml version="1.0" encoding="utf-8"?>
<p:tagLst xmlns:p="http://schemas.openxmlformats.org/presentationml/2006/main">
  <p:tag name="KSO_WM_DIAGRAM_VIRTUALLY_FRAME" val="{&quot;height&quot;:290.001724132799,&quot;left&quot;:400,&quot;top&quot;:130.0000040753328,&quot;width&quot;:53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5757</Words>
  <Application>WPS 演示</Application>
  <PresentationFormat/>
  <Paragraphs>341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十二</cp:lastModifiedBy>
  <cp:revision>3</cp:revision>
  <dcterms:created xsi:type="dcterms:W3CDTF">2026-06-15T02:37:00Z</dcterms:created>
  <dcterms:modified xsi:type="dcterms:W3CDTF">2026-06-15T03:43:25Z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{"Label":"1","ContentProducer":"001191110102MACQD9K64010000","ProduceID":"7651445412499983600","ReservedCode1":"","ContentPropagator":"","PropagateID":"","ReservedCode2":""}</vt:lpwstr>
  </property>
  <property fmtid="{D5CDD505-2E9C-101B-9397-08002B2CF9AE}" pid="3" name="ICV">
    <vt:lpwstr>A7058997C94D46B88114B77578BA6B2F_13</vt:lpwstr>
  </property>
  <property fmtid="{D5CDD505-2E9C-101B-9397-08002B2CF9AE}" pid="4" name="KSOProductBuildVer">
    <vt:lpwstr>2052-12.1.0.26895</vt:lpwstr>
  </property>
</Properties>
</file>